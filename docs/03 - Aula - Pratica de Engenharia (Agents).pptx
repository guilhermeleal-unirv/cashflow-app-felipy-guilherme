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3"/>
  </p:notesMasterIdLst>
  <p:handoutMasterIdLst>
    <p:handoutMasterId r:id="rId24"/>
  </p:handoutMasterIdLst>
  <p:sldIdLst>
    <p:sldId id="256" r:id="rId2"/>
    <p:sldId id="365" r:id="rId3"/>
    <p:sldId id="366" r:id="rId4"/>
    <p:sldId id="369" r:id="rId5"/>
    <p:sldId id="368" r:id="rId6"/>
    <p:sldId id="370" r:id="rId7"/>
    <p:sldId id="371" r:id="rId8"/>
    <p:sldId id="372" r:id="rId9"/>
    <p:sldId id="373" r:id="rId10"/>
    <p:sldId id="374" r:id="rId11"/>
    <p:sldId id="376" r:id="rId12"/>
    <p:sldId id="375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37" d="100"/>
          <a:sy n="37" d="100"/>
        </p:scale>
        <p:origin x="57" y="8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D1754E3-65E7-45AF-A876-207FF3C7F6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xv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F61EEF-F9FD-69B0-B6A8-3E62529115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BAD57-A8DC-4AAF-AAFE-EC434BCECA6D}" type="datetimeFigureOut">
              <a:rPr lang="pt-BR" smtClean="0"/>
              <a:t>09/09/2026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3B65E6-38A2-7C30-5089-2AF1981D34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1701A1-9802-7C59-3742-8F0292CE72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45248-81FD-4F9F-8E04-6A613DF0F65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83632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720132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FFAC-210F-04E6-41E3-A7A9702F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275BA-CBB6-AF44-2D17-A2E30CE7CA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E9E799-1CFC-B844-A47B-B07ECD702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875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9332-F7EC-4B05-FD82-95D7CC94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F12E3-319E-E1C6-0A64-A26AFE33C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5C223C-2D8F-1E79-5F02-7BA3BB411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932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F749-5F94-2157-14EA-4AA105BB1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1313B-DF83-F2CD-BB52-C91B1E84A0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9920D-0FFF-47B5-B88D-E034479B1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159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AC85-1880-086F-833D-AE220CF77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A4CA32-FD83-FF26-9182-F726B0B0B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B410C-15B4-1CC3-B4FE-DCF58470C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60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30DF4-A72E-C007-0E59-86F2FDB6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DF02D-2355-B564-16F1-9DD97ADB6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9141F-5A09-7C30-9AEE-215B6A7693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004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433EB-EC8C-5762-2467-5A594E63A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2DE52-D27E-0107-BAAA-89A64775E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2EDB0-1D00-9CCC-0183-1D20C9F47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93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F9E05-C62F-C22A-0629-35A1E099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83697-FFF5-2FDC-2C0A-B915540ED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858B0-BB93-8247-1B58-52E3666BA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9299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6A779-DDFE-BCD7-33AA-A40CED2D3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42DFD-5E4A-DA8B-1D27-EE8B58A4C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0CE7C-6393-CB78-19C0-153838EFC8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162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D0B3-6386-3511-72D3-13CA45B6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FE675-1E59-B87F-BF1F-3C9D63CF8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5FBD2-5189-5876-D947-BA0649AB8E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35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6466-C8AA-F536-9A74-782688294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AB1D4-D843-37D8-7720-AFA52137C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E7F5A-1BB4-64A2-00C9-B6D679833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6189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9B7FA-DCF2-1760-283C-C1F109935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9BB8B-E550-BC7A-4DB0-7EBEB7D0F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15C93-DCF5-7C81-2CBD-416FDE31C9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57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B461-E819-FA39-12D7-8DF29332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30024-B984-FBAA-25F0-E1577345E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5A1639-1326-5BD5-BBAE-0CD9BE6E8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836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752B1-12A0-7E77-58EA-6FD36574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762F36-3BEF-DD8E-A3DF-6AC3107DB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F9BB06-EAE3-D213-0DED-B52A3C3C3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5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FC741-F57F-29E6-2C83-2AB01AA14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91B40-DB95-9FC7-E468-429176172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43730C-E7FE-66D2-9E65-578EC6D0D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958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83F7-F671-9FB5-E960-E1A28AB1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28B68-1785-9B45-E3AF-A95672BAE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6BFA15-75AE-26BE-7C61-03BB119E0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686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E1BC-6C34-14D7-369D-EC6A84A7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836DE-C47C-082B-0E1C-86E7940E5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DDE8EB-8E5E-D545-C7B3-4D147FA62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5508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76FEC-416C-AE8B-0FCC-12303A90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6A912-CF7B-3106-3021-653498ADF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3FC78-F503-E452-493A-97E14BE8D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60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90385-6758-5178-266D-6EE5DB4FD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37098-52DA-E92B-4C58-6E64C5415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F8C02B-719C-8BB7-5584-90A9F5E78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2183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97159-9C88-6121-0D65-81FA9C71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20853-8E1C-B3EA-6BD8-63E623363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F9FC81-0A60-2B26-0310-69F7C1A7D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7188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38281-5412-4C03-16EF-7667C811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34C03B-032E-2D78-3E5A-46CB7AA98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7297D-1C21-5CD9-6C9E-A9193832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50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"/>
            <a:ext cx="14630400" cy="54864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4630400" cy="54864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2160"/>
            </a:lvl4pPr>
            <a:lvl5pPr marL="2194560" indent="0" algn="ctr">
              <a:buNone/>
              <a:defRPr sz="2160"/>
            </a:lvl5pPr>
            <a:lvl6pPr marL="2743200" indent="0" algn="ctr">
              <a:buNone/>
              <a:defRPr sz="2160"/>
            </a:lvl6pPr>
            <a:lvl7pPr marL="3291840" indent="0" algn="ctr">
              <a:buNone/>
              <a:defRPr sz="2160"/>
            </a:lvl7pPr>
            <a:lvl8pPr marL="3840480" indent="0" algn="ctr">
              <a:buNone/>
              <a:defRPr sz="2160"/>
            </a:lvl8pPr>
            <a:lvl9pPr marL="4389120" indent="0" algn="ctr">
              <a:buNone/>
              <a:defRPr sz="216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0338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3650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4630400" cy="54864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1"/>
            <a:ext cx="14630400" cy="54864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b="0" spc="24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0163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8952" y="2743200"/>
            <a:ext cx="5705856" cy="48280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7184" y="2743200"/>
            <a:ext cx="5705856" cy="482803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2711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760" b="0" cap="none" baseline="0">
                <a:solidFill>
                  <a:schemeClr val="accent1"/>
                </a:solidFill>
                <a:latin typeface="+mn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8954" y="3561346"/>
            <a:ext cx="5705856" cy="40098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89066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76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marL="0" lvl="0" indent="0" algn="l" defTabSz="1097280" rtl="0" eaLnBrk="1" latinLnBrk="0" hangingPunct="1">
              <a:lnSpc>
                <a:spcPct val="90000"/>
              </a:lnSpc>
              <a:spcBef>
                <a:spcPts val="216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3561346"/>
            <a:ext cx="5705856" cy="40098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3329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3560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4934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28954" y="565811"/>
            <a:ext cx="5266944" cy="208483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0" y="987552"/>
            <a:ext cx="6814109" cy="622157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8954" y="2709007"/>
            <a:ext cx="5266944" cy="451475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720"/>
              </a:spcBef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3633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6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4626742" cy="54864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32720" y="5952166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0021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17081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914400"/>
            <a:ext cx="3154680" cy="649224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721" y="914400"/>
            <a:ext cx="9098280" cy="649224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2070080" y="71116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2623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193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743200"/>
            <a:ext cx="11664088" cy="48280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8955" y="7764845"/>
            <a:ext cx="2584972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519" y="7764845"/>
            <a:ext cx="7081751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04800" y="7764845"/>
            <a:ext cx="1168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914400" y="991589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66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1097280" rtl="0" eaLnBrk="1" latinLnBrk="0" hangingPunct="1">
        <a:lnSpc>
          <a:spcPct val="80000"/>
        </a:lnSpc>
        <a:spcBef>
          <a:spcPct val="0"/>
        </a:spcBef>
        <a:buNone/>
        <a:defRPr sz="6000" kern="1200" cap="all" spc="12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318211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71323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1272845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145938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163494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2"/>
          <p:cNvSpPr/>
          <p:nvPr/>
        </p:nvSpPr>
        <p:spPr>
          <a:xfrm>
            <a:off x="833199" y="1286964"/>
            <a:ext cx="12812463" cy="14417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5468"/>
              </a:lnSpc>
            </a:pPr>
            <a:r>
              <a:rPr lang="en-US" sz="6000" dirty="0">
                <a:solidFill>
                  <a:srgbClr val="383838"/>
                </a:solidFill>
                <a:latin typeface="Patrick Hand" pitchFamily="34" charset="0"/>
              </a:rPr>
              <a:t>ESW424 – </a:t>
            </a:r>
            <a:r>
              <a:rPr lang="en-US" sz="6000" dirty="0" err="1">
                <a:solidFill>
                  <a:srgbClr val="383838"/>
                </a:solidFill>
                <a:latin typeface="Patrick Hand" pitchFamily="34" charset="0"/>
              </a:rPr>
              <a:t>Prática</a:t>
            </a:r>
            <a:r>
              <a:rPr lang="en-US" sz="6000" dirty="0">
                <a:solidFill>
                  <a:srgbClr val="383838"/>
                </a:solidFill>
                <a:latin typeface="Patrick Hand" pitchFamily="34" charset="0"/>
              </a:rPr>
              <a:t> de </a:t>
            </a:r>
            <a:r>
              <a:rPr lang="en-US" sz="6000" dirty="0" err="1">
                <a:solidFill>
                  <a:srgbClr val="383838"/>
                </a:solidFill>
                <a:latin typeface="Patrick Hand" pitchFamily="34" charset="0"/>
              </a:rPr>
              <a:t>Engenharia</a:t>
            </a:r>
            <a:r>
              <a:rPr lang="en-US" sz="6000" dirty="0">
                <a:solidFill>
                  <a:srgbClr val="383838"/>
                </a:solidFill>
                <a:latin typeface="Patrick Hand" pitchFamily="34" charset="0"/>
              </a:rPr>
              <a:t> de Software</a:t>
            </a:r>
          </a:p>
        </p:txBody>
      </p:sp>
      <p:sp>
        <p:nvSpPr>
          <p:cNvPr id="6" name="Text 3"/>
          <p:cNvSpPr/>
          <p:nvPr/>
        </p:nvSpPr>
        <p:spPr>
          <a:xfrm>
            <a:off x="2831991" y="3866574"/>
            <a:ext cx="8848380" cy="224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algn="ctr">
              <a:lnSpc>
                <a:spcPts val="5468"/>
              </a:lnSpc>
              <a:buNone/>
            </a:pPr>
            <a:r>
              <a:rPr lang="en-US" sz="6000" b="1" dirty="0" err="1">
                <a:solidFill>
                  <a:srgbClr val="383838"/>
                </a:solidFill>
                <a:latin typeface="Patrick Hand" pitchFamily="34" charset="0"/>
              </a:rPr>
              <a:t>Agentes</a:t>
            </a:r>
            <a:r>
              <a:rPr lang="en-US" sz="6000" b="1" dirty="0">
                <a:solidFill>
                  <a:srgbClr val="383838"/>
                </a:solidFill>
                <a:latin typeface="Patrick Hand" pitchFamily="34" charset="0"/>
              </a:rPr>
              <a:t> </a:t>
            </a:r>
            <a:r>
              <a:rPr lang="en-US" sz="6000" b="1" dirty="0" err="1">
                <a:solidFill>
                  <a:srgbClr val="383838"/>
                </a:solidFill>
                <a:latin typeface="Patrick Hand" pitchFamily="34" charset="0"/>
              </a:rPr>
              <a:t>Inteligentes</a:t>
            </a:r>
            <a:endParaRPr lang="en-US" sz="6000" b="1" dirty="0">
              <a:solidFill>
                <a:srgbClr val="383838"/>
              </a:solidFill>
              <a:latin typeface="Patrick Hand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33199" y="5897642"/>
            <a:ext cx="355402" cy="355402"/>
          </a:xfrm>
          <a:prstGeom prst="roundRect">
            <a:avLst>
              <a:gd name="adj" fmla="val 257260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6A4FDDD0-9E9A-7BCB-64BC-D02223FA1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BFEEFAF8-01D7-FA71-1813-3DECC2781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m 2">
            <a:extLst>
              <a:ext uri="{FF2B5EF4-FFF2-40B4-BE49-F238E27FC236}">
                <a16:creationId xmlns:a16="http://schemas.microsoft.com/office/drawing/2014/main" id="{C17ED2D4-2196-3B1C-3A03-220FB15291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5AC1-80CE-8A4D-9896-15FA41B8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68EF1FDC-ED5C-EAD4-D6EE-397A6291818F}"/>
              </a:ext>
            </a:extLst>
          </p:cNvPr>
          <p:cNvSpPr/>
          <p:nvPr/>
        </p:nvSpPr>
        <p:spPr>
          <a:xfrm>
            <a:off x="600528" y="2050764"/>
            <a:ext cx="12136677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O que são </a:t>
            </a:r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 de IA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Entidades Autônomas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Agem de forma independente, sem necessidade de interação humana constante.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Capacidade de Percepção e Ação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Recebem dados do ambiente, processam informações e executam ações apropriadas.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Contexto e Memória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Podem manter histórico de interações para tomar decisões mais inteligentes.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Mais que Funções ou APIs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São proativos: não apenas respondem a chamadas, mas também podem iniciar ações.</a:t>
            </a:r>
          </a:p>
          <a:p>
            <a:pPr algn="just"/>
            <a:br>
              <a:rPr lang="pt-BR" sz="2800" dirty="0">
                <a:latin typeface="Times New Roman" panose="02020603050405020304" pitchFamily="18" charset="0"/>
              </a:rPr>
            </a:br>
            <a:endParaRPr lang="pt-BR"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2A57348B-7D53-B7CD-EB6F-18473C85C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ED2D8CD-C5E2-6832-782B-DE950987B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1984A1B4-5DDC-0081-1D82-D312A2006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B32F45CA-E45D-DD89-CD84-35584B58A52D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E9A76D71-FA9F-EE4D-8869-9781D1C39682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6486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232C-C805-2331-C7A0-ADA10D8D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7A99C174-7DBE-EC69-B5B7-B73F539D8781}"/>
              </a:ext>
            </a:extLst>
          </p:cNvPr>
          <p:cNvSpPr/>
          <p:nvPr/>
        </p:nvSpPr>
        <p:spPr>
          <a:xfrm>
            <a:off x="600528" y="2050764"/>
            <a:ext cx="12136677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O que são </a:t>
            </a:r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 de IA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br>
              <a:rPr lang="pt-BR" sz="2800" dirty="0">
                <a:latin typeface="Times New Roman" panose="02020603050405020304" pitchFamily="18" charset="0"/>
              </a:rPr>
            </a:br>
            <a:r>
              <a:rPr lang="pt-BR" sz="2800" i="1" dirty="0" err="1"/>
              <a:t>Agents</a:t>
            </a:r>
            <a:r>
              <a:rPr lang="pt-BR" sz="2800" i="1" dirty="0"/>
              <a:t> de IA são unidades de software inteligentes, capazes de perceber, decidir e agir de forma autônoma, tornando os sistemas mais adaptativos e colaborativos.</a:t>
            </a:r>
            <a:endParaRPr lang="pt-BR"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1E5283B5-4B26-761E-BF93-856B65FC3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7581D711-B413-AAC4-9BAA-5DFC672B38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8895B242-75B5-1560-C799-7B9F77D644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3F327199-FA97-0916-E652-91B47F16744A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FF240D0C-3220-7DC5-8546-D48BEC912558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FD85C96-94B3-7BD1-E5E9-EFCCCE008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0031" y="3002387"/>
            <a:ext cx="5741391" cy="25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65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9FF3-115B-7DBA-3DC6-C6F3250F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A99F2859-43C7-135F-A616-D757449752EC}"/>
              </a:ext>
            </a:extLst>
          </p:cNvPr>
          <p:cNvSpPr/>
          <p:nvPr/>
        </p:nvSpPr>
        <p:spPr>
          <a:xfrm>
            <a:off x="600528" y="2050764"/>
            <a:ext cx="12136677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Como funcionam os </a:t>
            </a:r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Operam por meio de um ciclo estruturado em quatro etapas fundamentais</a:t>
            </a:r>
          </a:p>
          <a:p>
            <a:r>
              <a:rPr lang="pt-BR" sz="2800" dirty="0">
                <a:latin typeface="Times New Roman" panose="02020603050405020304" pitchFamily="18" charset="0"/>
              </a:rPr>
              <a:t>(</a:t>
            </a:r>
            <a:r>
              <a:rPr lang="pt-BR" sz="2500" dirty="0">
                <a:latin typeface="Times New Roman" panose="02020603050405020304" pitchFamily="18" charset="0"/>
              </a:rPr>
              <a:t>baseado no framework de Russell &amp; </a:t>
            </a:r>
            <a:r>
              <a:rPr lang="pt-BR" sz="2500" dirty="0" err="1">
                <a:latin typeface="Times New Roman" panose="02020603050405020304" pitchFamily="18" charset="0"/>
              </a:rPr>
              <a:t>Norvig</a:t>
            </a:r>
            <a:r>
              <a:rPr lang="pt-BR" sz="2800" dirty="0">
                <a:latin typeface="Times New Roman" panose="02020603050405020304" pitchFamily="18" charset="0"/>
              </a:rPr>
              <a:t>)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Perceber: </a:t>
            </a:r>
            <a:r>
              <a:rPr lang="pt-BR" sz="2000" dirty="0">
                <a:latin typeface="Times New Roman" panose="02020603050405020304" pitchFamily="18" charset="0"/>
              </a:rPr>
              <a:t>Captar o estado do ambiente.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Processar / Interpretar: </a:t>
            </a:r>
            <a:r>
              <a:rPr lang="pt-BR" sz="2000" dirty="0">
                <a:latin typeface="Times New Roman" panose="02020603050405020304" pitchFamily="18" charset="0"/>
              </a:rPr>
              <a:t>Construir uma representação interna do estado percebido.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Decidir: </a:t>
            </a:r>
            <a:r>
              <a:rPr lang="pt-BR" sz="2000" dirty="0">
                <a:latin typeface="Times New Roman" panose="02020603050405020304" pitchFamily="18" charset="0"/>
              </a:rPr>
              <a:t>Escolher a ação que maximiza a utilidade (ou cumpre o objetivo).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Agir: </a:t>
            </a:r>
            <a:r>
              <a:rPr lang="pt-BR" sz="2000" dirty="0">
                <a:latin typeface="Times New Roman" panose="02020603050405020304" pitchFamily="18" charset="0"/>
              </a:rPr>
              <a:t>Executar a ação escolhida no ambiente.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6BDA3951-5F6B-BD38-F458-0D16637F3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86C8E66-D58B-1CAE-2571-0FE85AA9AF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65ACF197-70F8-BC1E-14B6-6ABAC6CD2F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C8D6609F-109A-4583-5EC5-6B976B3460D8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546C61C7-DE23-72B1-C911-6B5D29BA732F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10966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4D11-813C-E58A-2DCF-C57F6378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663D1110-7B43-8E80-F929-3BFD55390DEE}"/>
              </a:ext>
            </a:extLst>
          </p:cNvPr>
          <p:cNvSpPr/>
          <p:nvPr/>
        </p:nvSpPr>
        <p:spPr>
          <a:xfrm>
            <a:off x="600528" y="2050764"/>
            <a:ext cx="12044123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Como funcionam os </a:t>
            </a:r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br>
              <a:rPr lang="pt-BR" sz="2800" dirty="0">
                <a:latin typeface="Times New Roman" panose="02020603050405020304" pitchFamily="18" charset="0"/>
              </a:rPr>
            </a:b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92D907E0-9CDF-224E-F969-EE7719D441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346CB77-EE66-EE6A-01E9-48AB8E00F3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BD82517E-4A9A-D869-AB1E-F4BE687AC5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E11359BB-23CE-13D4-BD9A-3A6933690E56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697D2D87-146C-0E50-ADAB-9F9D7FBA54B1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" name="Imagem 5" descr="Linha do tempo&#10;&#10;O conteúdo gerado por IA pode estar incorreto.">
            <a:extLst>
              <a:ext uri="{FF2B5EF4-FFF2-40B4-BE49-F238E27FC236}">
                <a16:creationId xmlns:a16="http://schemas.microsoft.com/office/drawing/2014/main" id="{6B101D16-3151-3816-BF20-E8BEB490F9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55456" y="2465589"/>
            <a:ext cx="6632566" cy="470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0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6C4D-2E1E-3FED-F0A8-8A1BEBC5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5F027204-2CB4-3D1D-35D5-56B2E2F33DBB}"/>
              </a:ext>
            </a:extLst>
          </p:cNvPr>
          <p:cNvSpPr/>
          <p:nvPr/>
        </p:nvSpPr>
        <p:spPr>
          <a:xfrm>
            <a:off x="600528" y="2050764"/>
            <a:ext cx="12136677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Como funcionam os </a:t>
            </a:r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Percepção do ambiente: </a:t>
            </a:r>
            <a:r>
              <a:rPr lang="pt-BR" sz="2000" dirty="0">
                <a:latin typeface="Times New Roman" panose="02020603050405020304" pitchFamily="18" charset="0"/>
              </a:rPr>
              <a:t>o agente coleta informações relevantes do seu entorno, que podem incluir interações com usuários, dados provenientes de sistemas externos, sensores ou bases de conhecimento internas.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Processamento da informação: </a:t>
            </a:r>
            <a:r>
              <a:rPr lang="pt-BR" sz="2000" dirty="0">
                <a:latin typeface="Times New Roman" panose="02020603050405020304" pitchFamily="18" charset="0"/>
              </a:rPr>
              <a:t>os dados capturados são interpretados e analisados, permitindo que o agente compreenda o contexto e organize o conhecimento necessário para tomar decisões.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Tomada de decisão: </a:t>
            </a:r>
            <a:r>
              <a:rPr lang="pt-BR" sz="2000" dirty="0">
                <a:latin typeface="Times New Roman" panose="02020603050405020304" pitchFamily="18" charset="0"/>
              </a:rPr>
              <a:t>com base nas informações processadas, o agente seleciona a ação mais adequada para atingir seus objetivos, podendo utilizar regras predefinidas, modelos de aprendizado de máquina ou estratégias de otimização</a:t>
            </a:r>
            <a:r>
              <a:rPr lang="pt-BR" sz="2800" dirty="0">
                <a:latin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Execução de ações: </a:t>
            </a:r>
            <a:r>
              <a:rPr lang="pt-BR" sz="2000" dirty="0">
                <a:latin typeface="Times New Roman" panose="02020603050405020304" pitchFamily="18" charset="0"/>
              </a:rPr>
              <a:t>o agente realiza as ações escolhidas, que podem variar desde respostas simples até operações complexas em sistemas externos, assegurando que seus objetivos sejam alcançados de forma eficaz.</a:t>
            </a:r>
          </a:p>
          <a:p>
            <a:pPr algn="just"/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br>
              <a:rPr lang="pt-BR" sz="2800" dirty="0">
                <a:latin typeface="Times New Roman" panose="02020603050405020304" pitchFamily="18" charset="0"/>
              </a:rPr>
            </a:br>
            <a:r>
              <a:rPr lang="pt-BR" sz="2800" i="1" dirty="0" err="1"/>
              <a:t>Agents</a:t>
            </a:r>
            <a:r>
              <a:rPr lang="pt-BR" sz="2800" i="1" dirty="0"/>
              <a:t> de IA são unidades de software inteligentes, capazes de perceber, decidir e agir de forma autônoma, tornando os sistemas mais adaptativos e colaborativos.</a:t>
            </a:r>
            <a:endParaRPr lang="pt-BR" sz="2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49587B5B-BF63-3A90-19C9-BA5C00B34F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64A8FCE-BD43-2BF1-14FB-19D9DFBF5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85F5B880-073F-47C4-6468-F64BE08A88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B173CF0B-B1F7-B910-8EEA-CAB232D6564B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38AAC670-F0B3-825E-4088-7DAC0DCFEDAB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64031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42713-C61F-2A9A-6052-BBEAB3D7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92BBE8AA-2F39-3A6E-6B5C-41D3E81C273C}"/>
              </a:ext>
            </a:extLst>
          </p:cNvPr>
          <p:cNvSpPr/>
          <p:nvPr/>
        </p:nvSpPr>
        <p:spPr>
          <a:xfrm>
            <a:off x="600528" y="2050764"/>
            <a:ext cx="12938051" cy="54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Integração Tradicional: User → Persistência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Fluxo Tradicional de Processamento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Fornece os Dados: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Entrada manual — formulário, upload de arquivo ou API.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>
                <a:latin typeface="Times New Roman" panose="02020603050405020304" pitchFamily="18" charset="0"/>
              </a:rPr>
              <a:t>Backend</a:t>
            </a:r>
            <a:r>
              <a:rPr lang="pt-BR" sz="2800" dirty="0">
                <a:latin typeface="Times New Roman" panose="02020603050405020304" pitchFamily="18" charset="0"/>
              </a:rPr>
              <a:t> Processa Diretamente: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O servidor recebe os dados e aplica regras básicas de negócio.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Persistência no Banco de Dados: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Informações são gravadas sem interpretação ou enriquecimento adicional.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Fluxo Linear e Determinístico: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Cada etapa depende da anterior, sem inteligência autônoma no meio.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No modelo tradicional, não há agentes inteligentes — apenas uma sequência direta de entrada, processamento e gravação.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3B6C9B59-A8A3-DF7A-D7FE-B451BE161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BB0BD7D-CAD0-5808-C753-1BFE503C49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3632B6FF-0A19-8610-1A34-438FED2FA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4B9C1697-B6B7-F9B3-C174-A99288702468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7C21128A-CDF7-798F-2065-BDACA9DC913C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06903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A288F-47EA-BE7A-0C5C-FC108267C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AD309CC9-3D25-590C-74FC-73D20F2C825F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Integração Agent → Interpretação → Persistência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Fluxo com Agente de 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Agente Recebe os Dados: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Substitui ou complementa o papel do usuário, capturando informações de forma automatizada.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Interpretação e Processamento Inteligente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Agent1 analisa, valida e transforma os dados antes de enviar adiante.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Envio para Persistência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Agent2 ou sistema de armazenamento recebe dados já processados, garantindo consistência e qualidade.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Automação e Decisão Autônoma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O agente pode tomar decisões intermediárias, aplicar regras de negócio e interagir com outros agentes.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O uso de agentes introduz inteligência e autonomia, transformando o fluxo linear em um processo mais flexível e robusto.</a:t>
            </a:r>
            <a:endParaRPr lang="pt-BR" sz="28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B7166E7F-038E-FE78-4D28-36B8F984B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15BCEA74-4D5F-FE0D-9361-B1CECEB6F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F33E390A-E87D-6D2F-A660-C78A56130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D6C7E9E8-3FB4-5540-4FB1-A44F4292E400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3F333725-0AFA-01F3-2108-8EDEB12B88BB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732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3846-842F-CDD6-7579-FB6D91D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BA721E4E-5542-51B5-05B9-436942B284B2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Como Agentes se Comunicam (A2A)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Direta entre Agentes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Agentes trocam mensagens ou eventos de forma autônoma, sem intervenção humana.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Tipos de Integração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Síncrona – um agente espera a resposta do outro antes de continuar.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Assíncrona – agentes trocam mensagens e processam independentemente, usando filas ou eventos.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Flexibilidade e Escalabilidade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Novos agentes podem ser adicionados facilmente sem alterar o fluxo existente.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Coordenação Implícita ou Explícita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Agentes podem agir sequencialmente ou em paralelo, dependendo das regras de negócio.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A integração A2A permite que agentes autônomos colaborem de forma organizada, tornando os sistemas mais flexíveis, escaláveis e inteligentes.</a:t>
            </a:r>
            <a:endParaRPr lang="pt-BR" sz="2800" dirty="0">
              <a:latin typeface="Times New Roman" panose="02020603050405020304" pitchFamily="18" charset="0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D07FACE0-C6C1-51B9-8B4D-E9A7FEBAE2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13CAD2F-B54A-D9F7-B8A1-3847751CC3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19A5A1BA-DCF0-A620-0328-CB60F834D5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E02D8C4B-E242-87AF-3DDE-DB6C053D056A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DC1BF91A-617D-32FD-4996-635EF156F6AF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2535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EDB0C-DEB5-909F-6AA9-5B0292E08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33DC78C2-EA7A-7535-2386-ACDAA3CD5F9B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Coordenação: Um Agente Espera o Outro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u="sng" dirty="0">
                <a:latin typeface="Times New Roman" panose="02020603050405020304" pitchFamily="18" charset="0"/>
              </a:rPr>
              <a:t>Fluxo Sequencial Entre Agentes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Agente 1 Processa Primeiro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Agent1 lê e interpreta o documento fiscal antes de enviar os dados adiante.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Agente 2 Espera os Dados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Agent2 só inicia a persistência depois de receber a mensagem de Agent1.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Comunicação Síncrona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O fluxo é linear: cada etapa depende da anterior, garantindo consistência.</a:t>
            </a:r>
          </a:p>
          <a:p>
            <a:pPr marL="1371600" lvl="2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Vantagens</a:t>
            </a:r>
          </a:p>
          <a:p>
            <a:pPr lvl="3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Evita conflitos, garante integridade dos dados e mantém controle sobre o processo.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1892654E-9975-C852-02AF-0E8FC5E2B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16D0D5DC-CCB9-C5B7-5125-40B5A805FD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5351A545-A2EF-3EA5-D8F8-AC572CE5D7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8E0E5755-3B93-8442-D5D3-61F48F2E8DCF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5D4D9973-1CC9-C728-ABE8-9A79B7F0F0B0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7551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C9560-159B-61F7-4B9A-9B708EE47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D837C9DA-3BE4-953D-92C4-50D1D7EAE0C6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Coordenação: Um Agente Espera o Outro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u="sng" dirty="0">
                <a:latin typeface="Times New Roman" panose="02020603050405020304" pitchFamily="18" charset="0"/>
              </a:rPr>
              <a:t>Fluxo Sequencial Entre Agentes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	</a:t>
            </a:r>
            <a:r>
              <a:rPr lang="pt-BR" sz="2800" b="1" u="sng" dirty="0">
                <a:latin typeface="Times New Roman" panose="02020603050405020304" pitchFamily="18" charset="0"/>
              </a:rPr>
              <a:t>[Agent1: Extrai] </a:t>
            </a:r>
            <a:r>
              <a:rPr lang="pt-BR" sz="2800" dirty="0">
                <a:latin typeface="Times New Roman" panose="02020603050405020304" pitchFamily="18" charset="0"/>
              </a:rPr>
              <a:t>→ </a:t>
            </a:r>
            <a:r>
              <a:rPr lang="pt-BR" sz="2800" b="1" u="sng" dirty="0">
                <a:latin typeface="Times New Roman" panose="02020603050405020304" pitchFamily="18" charset="0"/>
              </a:rPr>
              <a:t>[Agent2: Persiste] </a:t>
            </a:r>
            <a:r>
              <a:rPr lang="pt-BR" sz="2800" dirty="0">
                <a:latin typeface="Times New Roman" panose="02020603050405020304" pitchFamily="18" charset="0"/>
              </a:rPr>
              <a:t>→ </a:t>
            </a:r>
            <a:r>
              <a:rPr lang="pt-BR" sz="2800" b="1" dirty="0">
                <a:latin typeface="Times New Roman" panose="02020603050405020304" pitchFamily="18" charset="0"/>
              </a:rPr>
              <a:t>Banco de Dados</a:t>
            </a:r>
          </a:p>
          <a:p>
            <a:endParaRPr lang="pt-BR" sz="2800" b="1" dirty="0">
              <a:latin typeface="Times New Roman" panose="02020603050405020304" pitchFamily="18" charset="0"/>
            </a:endParaRPr>
          </a:p>
          <a:p>
            <a:endParaRPr lang="pt-BR" sz="2800" b="1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Na coordenação sequencial, os agentes colaboram de forma ordenada, com cada um aguardando o término da tarefa anterior antes de agir.</a:t>
            </a:r>
            <a:endParaRPr lang="pt-BR" sz="2800" dirty="0">
              <a:latin typeface="Times New Roman" panose="02020603050405020304" pitchFamily="18" charset="0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B2F1CF54-82D8-2D0B-38F6-049C375F1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746E8D1-9ABA-71AD-090D-7417524CA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D7E889B4-28E2-34F2-FA24-7F6A8BED49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38232711-CF6C-6295-021C-F82D6BB3A08F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CDB15443-9EFB-53F3-8513-AA9E62E80C0B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77627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29DB-E507-A45A-B1CA-2739114B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B5EA523F-F990-13AF-296F-998DC764B289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Execução Simultânea de Agentes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u="sng" dirty="0">
                <a:latin typeface="Times New Roman" panose="02020603050405020304" pitchFamily="18" charset="0"/>
              </a:rPr>
              <a:t>Agentes Atuando em Paralelo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Agentes Independentes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Agent1 e Agent2 podem processar diferentes tarefas ao mesmo tempo sem esperar um pelo outro.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Comunicação Assíncrona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Mensagens ou eventos são trocados de forma assíncrona, usando filas, pub/sub ou notificações.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Maior Eficiência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Permite reduzir o tempo total de processamento e aproveitar melhor os recursos do sistema.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endParaRPr lang="pt-BR" sz="20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Uso em Cenários Convergentes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pt-BR" sz="2000" dirty="0">
                <a:latin typeface="Times New Roman" panose="02020603050405020304" pitchFamily="18" charset="0"/>
              </a:rPr>
              <a:t>Quando tarefas são independentes ou parcialmente dependentes, a simultaneidade aumenta a produtividade</a:t>
            </a:r>
            <a:r>
              <a:rPr lang="pt-BR" sz="2800" dirty="0">
                <a:latin typeface="Times New Roman" panose="02020603050405020304" pitchFamily="18" charset="0"/>
              </a:rPr>
              <a:t>.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354221C5-934D-59B9-2F40-FA75E1B52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16C2B6B2-C3A0-BD19-737C-B92007E30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BB99F815-7597-87AF-8A74-2BF806D6C5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686FB29F-DD83-ABAD-2760-46C69156E067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CAA5B927-4063-8CFE-99FE-BA34CBBF7FAB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1539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F686B-92C3-9357-2B40-DAA1000A6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42E66D4D-D8BB-47AB-BCF0-487B54DB2290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Execução Simultânea de Agentes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u="sng" dirty="0">
                <a:latin typeface="Times New Roman" panose="02020603050405020304" pitchFamily="18" charset="0"/>
              </a:rPr>
              <a:t>Agentes Atuando em Paralelo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b="1" dirty="0">
                <a:latin typeface="Times New Roman" panose="02020603050405020304" pitchFamily="18" charset="0"/>
              </a:rPr>
              <a:t>	</a:t>
            </a:r>
            <a:r>
              <a:rPr lang="pt-BR" sz="2800" b="1" u="sng" dirty="0">
                <a:latin typeface="Times New Roman" panose="02020603050405020304" pitchFamily="18" charset="0"/>
              </a:rPr>
              <a:t>[Agent1: Extrai] </a:t>
            </a:r>
            <a:r>
              <a:rPr lang="pt-BR" sz="2800" dirty="0">
                <a:latin typeface="Times New Roman" panose="02020603050405020304" pitchFamily="18" charset="0"/>
              </a:rPr>
              <a:t>→ </a:t>
            </a:r>
            <a:r>
              <a:rPr lang="pt-BR" sz="2800" b="1" dirty="0">
                <a:latin typeface="Times New Roman" panose="02020603050405020304" pitchFamily="18" charset="0"/>
              </a:rPr>
              <a:t>Banco de Dados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b="1" dirty="0">
                <a:latin typeface="Times New Roman" panose="02020603050405020304" pitchFamily="18" charset="0"/>
              </a:rPr>
              <a:t>	</a:t>
            </a:r>
            <a:r>
              <a:rPr lang="pt-BR" sz="2800" b="1" u="sng" dirty="0">
                <a:latin typeface="Times New Roman" panose="02020603050405020304" pitchFamily="18" charset="0"/>
              </a:rPr>
              <a:t>[Agent2: Persiste] </a:t>
            </a:r>
            <a:r>
              <a:rPr lang="pt-BR" sz="2800" dirty="0">
                <a:latin typeface="Times New Roman" panose="02020603050405020304" pitchFamily="18" charset="0"/>
              </a:rPr>
              <a:t>→ </a:t>
            </a:r>
            <a:r>
              <a:rPr lang="pt-BR" sz="2800" b="1" dirty="0">
                <a:latin typeface="Times New Roman" panose="02020603050405020304" pitchFamily="18" charset="0"/>
              </a:rPr>
              <a:t>Banco de Dados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Na execução simultânea, agentes colaboram paralelamente, aumentando eficiência e escalabilidade do sistema.</a:t>
            </a:r>
            <a:endParaRPr lang="pt-BR" sz="2800" dirty="0">
              <a:latin typeface="Times New Roman" panose="02020603050405020304" pitchFamily="18" charset="0"/>
              <a:sym typeface="Nunito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CE7DD1D7-235A-8793-E19E-4E12ED46D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373D91CF-BA29-B930-08CB-72233BE9B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6AE69A98-4B62-EF41-F37A-C65261AFD6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68CE843A-9E1B-117C-546C-4B611E4B5A63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31135762-01B4-2F0F-0F7C-9E1E2E3BF796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7163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3974-169C-2024-C586-65DD5B400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CB02A9AE-6DC9-BD38-4422-64A36181687C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Estrutura de Agentes em Python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Diretório do Agente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Cada agente pode ter seu próprio diretório.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Ex.</a:t>
            </a:r>
          </a:p>
          <a:p>
            <a:pPr lvl="1"/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/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agent1/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    __init__.py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    manipulacao_dados.py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	   consulta_dados.py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0BCF4243-2B9A-EEE8-D287-DDF50BAF1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AFAA4044-3392-C640-6BCD-2D2B69244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F37C1BAB-DF32-25C0-65D5-6A3E13FC46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AD14B7C5-0591-4FC7-E631-1EC512794BAE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2F0AE01A-C154-C217-CAEE-5D63172B4B6F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F3FB0D10-C046-87C3-D2D8-1E998C26EDAD}"/>
              </a:ext>
            </a:extLst>
          </p:cNvPr>
          <p:cNvSpPr/>
          <p:nvPr/>
        </p:nvSpPr>
        <p:spPr>
          <a:xfrm>
            <a:off x="8024883" y="5506871"/>
            <a:ext cx="4421169" cy="24352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b="1" dirty="0">
                <a:latin typeface="Times New Roman" panose="02020603050405020304" pitchFamily="18" charset="0"/>
              </a:rPr>
              <a:t>__init__.py</a:t>
            </a:r>
          </a:p>
          <a:p>
            <a:endParaRPr lang="pt-BR" sz="2800" b="1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pt-BR" sz="2500" dirty="0">
                <a:latin typeface="Times New Roman" panose="02020603050405020304" pitchFamily="18" charset="0"/>
              </a:rPr>
              <a:t>Pode estar vazio ou conter inicializações do pacote.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935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A4E7F-94AA-A9D4-4F48-43FFC2704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80B5B710-DCBD-1699-9467-7B4E1072F98D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Estrutura de Agentes em Python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701B8476-A37E-D832-1231-E7168D2C7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93A0244B-F7CE-F391-C927-420194C8E0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F1C48F0C-167E-E333-47E2-8CA3B61AA1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8DDA2740-9A6B-BAB3-D64A-95A4D14E6F6C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718ED40A-D3BF-8406-B7AC-4DB84FA17DBB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42F59B70-E40B-FA64-5565-8A365D1EE4FC}"/>
              </a:ext>
            </a:extLst>
          </p:cNvPr>
          <p:cNvSpPr/>
          <p:nvPr/>
        </p:nvSpPr>
        <p:spPr>
          <a:xfrm>
            <a:off x="6732180" y="2477069"/>
            <a:ext cx="6854166" cy="5609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BR" sz="2500" dirty="0">
                <a:latin typeface="Times New Roman" panose="02020603050405020304" pitchFamily="18" charset="0"/>
              </a:rPr>
              <a:t># agents/agent1/manipulacao_dados.py</a:t>
            </a:r>
          </a:p>
          <a:p>
            <a:pPr algn="just"/>
            <a:endParaRPr lang="pt-BR" sz="2500" dirty="0">
              <a:latin typeface="Times New Roman" panose="02020603050405020304" pitchFamily="18" charset="0"/>
            </a:endParaRPr>
          </a:p>
          <a:p>
            <a:pPr algn="just"/>
            <a:r>
              <a:rPr lang="pt-BR" sz="2500" dirty="0" err="1">
                <a:latin typeface="Times New Roman" panose="02020603050405020304" pitchFamily="18" charset="0"/>
              </a:rPr>
              <a:t>class</a:t>
            </a:r>
            <a:r>
              <a:rPr lang="pt-BR" sz="2500" dirty="0">
                <a:latin typeface="Times New Roman" panose="02020603050405020304" pitchFamily="18" charset="0"/>
              </a:rPr>
              <a:t> Agent1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"Agent responsável ... "</a:t>
            </a:r>
          </a:p>
          <a:p>
            <a:r>
              <a:rPr lang="pt-BR" sz="2500" dirty="0">
                <a:latin typeface="Times New Roman" panose="02020603050405020304" pitchFamily="18" charset="0"/>
              </a:rPr>
              <a:t>   </a:t>
            </a:r>
            <a:br>
              <a:rPr lang="pt-BR" sz="2500" dirty="0">
                <a:latin typeface="Times New Roman" panose="02020603050405020304" pitchFamily="18" charset="0"/>
              </a:rPr>
            </a:br>
            <a:r>
              <a:rPr lang="pt-BR" sz="2500" dirty="0">
                <a:latin typeface="Times New Roman" panose="02020603050405020304" pitchFamily="18" charset="0"/>
              </a:rPr>
              <a:t>    </a:t>
            </a:r>
            <a:r>
              <a:rPr lang="pt-BR" sz="2500" dirty="0" err="1">
                <a:latin typeface="Times New Roman" panose="02020603050405020304" pitchFamily="18" charset="0"/>
              </a:rPr>
              <a:t>def</a:t>
            </a:r>
            <a:r>
              <a:rPr lang="pt-BR" sz="2500" dirty="0">
                <a:latin typeface="Times New Roman" panose="02020603050405020304" pitchFamily="18" charset="0"/>
              </a:rPr>
              <a:t> __</a:t>
            </a:r>
            <a:r>
              <a:rPr lang="pt-BR" sz="2500" dirty="0" err="1">
                <a:latin typeface="Times New Roman" panose="02020603050405020304" pitchFamily="18" charset="0"/>
              </a:rPr>
              <a:t>init</a:t>
            </a:r>
            <a:r>
              <a:rPr lang="pt-BR" sz="2500" dirty="0">
                <a:latin typeface="Times New Roman" panose="02020603050405020304" pitchFamily="18" charset="0"/>
              </a:rPr>
              <a:t>__(self):</a:t>
            </a:r>
          </a:p>
          <a:p>
            <a:pPr algn="just"/>
            <a:endParaRPr lang="pt-BR" sz="2500" dirty="0">
              <a:latin typeface="Times New Roman" panose="02020603050405020304" pitchFamily="18" charset="0"/>
            </a:endParaRP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</a:t>
            </a:r>
            <a:r>
              <a:rPr lang="pt-BR" sz="2500" dirty="0" err="1">
                <a:latin typeface="Times New Roman" panose="02020603050405020304" pitchFamily="18" charset="0"/>
              </a:rPr>
              <a:t>def</a:t>
            </a:r>
            <a:r>
              <a:rPr lang="pt-BR" sz="2500" dirty="0">
                <a:latin typeface="Times New Roman" panose="02020603050405020304" pitchFamily="18" charset="0"/>
              </a:rPr>
              <a:t> </a:t>
            </a:r>
            <a:r>
              <a:rPr lang="pt-BR" sz="2500" dirty="0" err="1">
                <a:latin typeface="Times New Roman" panose="02020603050405020304" pitchFamily="18" charset="0"/>
              </a:rPr>
              <a:t>extrair_dados</a:t>
            </a:r>
            <a:r>
              <a:rPr lang="pt-BR" sz="2500" dirty="0">
                <a:latin typeface="Times New Roman" panose="02020603050405020304" pitchFamily="18" charset="0"/>
              </a:rPr>
              <a:t>(</a:t>
            </a:r>
            <a:r>
              <a:rPr lang="pt-BR" sz="2500" dirty="0" err="1">
                <a:latin typeface="Times New Roman" panose="02020603050405020304" pitchFamily="18" charset="0"/>
              </a:rPr>
              <a:t>file_path</a:t>
            </a:r>
            <a:r>
              <a:rPr lang="pt-BR" sz="2500" dirty="0">
                <a:latin typeface="Times New Roman" panose="02020603050405020304" pitchFamily="18" charset="0"/>
              </a:rPr>
              <a:t>):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    " Faz algo "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    # exemplo fictício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    data = {"numero": "123", "valor": 1000}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 </a:t>
            </a:r>
          </a:p>
          <a:p>
            <a:pPr algn="just"/>
            <a:r>
              <a:rPr lang="pt-BR" sz="2500" dirty="0">
                <a:latin typeface="Times New Roman" panose="02020603050405020304" pitchFamily="18" charset="0"/>
              </a:rPr>
              <a:t>         </a:t>
            </a:r>
            <a:r>
              <a:rPr lang="pt-BR" sz="2500" dirty="0" err="1">
                <a:latin typeface="Times New Roman" panose="02020603050405020304" pitchFamily="18" charset="0"/>
              </a:rPr>
              <a:t>return</a:t>
            </a:r>
            <a:r>
              <a:rPr lang="pt-BR" sz="2500" dirty="0">
                <a:latin typeface="Times New Roman" panose="02020603050405020304" pitchFamily="18" charset="0"/>
              </a:rPr>
              <a:t> data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EF9235C-78BB-9097-3637-81FF362D00B1}"/>
              </a:ext>
            </a:extLst>
          </p:cNvPr>
          <p:cNvSpPr/>
          <p:nvPr/>
        </p:nvSpPr>
        <p:spPr>
          <a:xfrm>
            <a:off x="650545" y="3243917"/>
            <a:ext cx="4549252" cy="293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lvl="1"/>
            <a:r>
              <a:rPr lang="pt-BR" sz="2800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/</a:t>
            </a:r>
          </a:p>
          <a:p>
            <a:pPr marL="0" lvl="1"/>
            <a:r>
              <a:rPr lang="pt-BR" sz="2800" dirty="0">
                <a:latin typeface="Times New Roman" panose="02020603050405020304" pitchFamily="18" charset="0"/>
              </a:rPr>
              <a:t>    agent1/</a:t>
            </a:r>
          </a:p>
          <a:p>
            <a:pPr marL="0" lvl="1"/>
            <a:r>
              <a:rPr lang="pt-BR" sz="2800" dirty="0">
                <a:latin typeface="Times New Roman" panose="02020603050405020304" pitchFamily="18" charset="0"/>
              </a:rPr>
              <a:t>        __init__.py</a:t>
            </a:r>
          </a:p>
          <a:p>
            <a:pPr marL="0" lvl="1"/>
            <a:r>
              <a:rPr lang="pt-BR" sz="2800" dirty="0">
                <a:latin typeface="Times New Roman" panose="02020603050405020304" pitchFamily="18" charset="0"/>
              </a:rPr>
              <a:t>        manipulacao_dados.py</a:t>
            </a:r>
          </a:p>
          <a:p>
            <a:pPr marL="0" lvl="1"/>
            <a:r>
              <a:rPr lang="pt-BR" sz="2800" dirty="0">
                <a:latin typeface="Times New Roman" panose="02020603050405020304" pitchFamily="18" charset="0"/>
              </a:rPr>
              <a:t>	   consulta_dados.py</a:t>
            </a: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45917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6A63-BFAA-A7C4-2495-D462BF63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FE98A876-F244-6A7A-ADCC-8ADD4D6D0406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Estrutura de Agentes em Python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8B7A36CB-3BBD-16B1-7A5A-AB6567866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B328C026-7DA3-48D8-2145-F3E4C1B10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713D8A0A-A36C-7D43-89D5-4DAC0B2371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B91A3E00-4873-920D-106C-B5480891B111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93597699-AA5E-7ECD-8DC8-1807223E731F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05B9B8FF-A43B-A2CA-9A2F-E7C1F62273D8}"/>
              </a:ext>
            </a:extLst>
          </p:cNvPr>
          <p:cNvSpPr/>
          <p:nvPr/>
        </p:nvSpPr>
        <p:spPr>
          <a:xfrm>
            <a:off x="773738" y="3230220"/>
            <a:ext cx="4653887" cy="315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BR" sz="2000" dirty="0">
                <a:latin typeface="Times New Roman" panose="02020603050405020304" pitchFamily="18" charset="0"/>
              </a:rPr>
              <a:t># agents/agent1/manipulacao_dados.py</a:t>
            </a:r>
          </a:p>
          <a:p>
            <a:pPr algn="just"/>
            <a:endParaRPr lang="pt-BR" sz="2000" dirty="0">
              <a:latin typeface="Times New Roman" panose="02020603050405020304" pitchFamily="18" charset="0"/>
            </a:endParaRPr>
          </a:p>
          <a:p>
            <a:pPr algn="just"/>
            <a:r>
              <a:rPr lang="pt-BR" sz="2000" dirty="0" err="1">
                <a:latin typeface="Times New Roman" panose="02020603050405020304" pitchFamily="18" charset="0"/>
              </a:rPr>
              <a:t>def</a:t>
            </a:r>
            <a:r>
              <a:rPr lang="pt-BR" sz="2000" dirty="0">
                <a:latin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</a:rPr>
              <a:t>extrair_dados</a:t>
            </a:r>
            <a:r>
              <a:rPr lang="pt-BR" sz="2000" dirty="0">
                <a:latin typeface="Times New Roman" panose="02020603050405020304" pitchFamily="18" charset="0"/>
              </a:rPr>
              <a:t>(</a:t>
            </a:r>
            <a:r>
              <a:rPr lang="pt-BR" sz="2000" dirty="0" err="1">
                <a:latin typeface="Times New Roman" panose="02020603050405020304" pitchFamily="18" charset="0"/>
              </a:rPr>
              <a:t>file_path</a:t>
            </a:r>
            <a:r>
              <a:rPr lang="pt-BR" sz="2000" dirty="0">
                <a:latin typeface="Times New Roman" panose="02020603050405020304" pitchFamily="18" charset="0"/>
              </a:rPr>
              <a:t>):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"""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faz algo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"""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# exemplo fictício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data = {"numero": "123", "valor": 1000}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 </a:t>
            </a:r>
          </a:p>
          <a:p>
            <a:pPr algn="just"/>
            <a:r>
              <a:rPr lang="pt-BR" sz="2000" dirty="0">
                <a:latin typeface="Times New Roman" panose="02020603050405020304" pitchFamily="18" charset="0"/>
              </a:rPr>
              <a:t>     </a:t>
            </a:r>
            <a:r>
              <a:rPr lang="pt-BR" sz="2000" dirty="0" err="1">
                <a:latin typeface="Times New Roman" panose="02020603050405020304" pitchFamily="18" charset="0"/>
              </a:rPr>
              <a:t>return</a:t>
            </a:r>
            <a:r>
              <a:rPr lang="pt-BR" sz="2000" dirty="0">
                <a:latin typeface="Times New Roman" panose="02020603050405020304" pitchFamily="18" charset="0"/>
              </a:rPr>
              <a:t> data</a:t>
            </a: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E5AC1F41-4669-CCBB-A7EC-C1DF14BAF38B}"/>
              </a:ext>
            </a:extLst>
          </p:cNvPr>
          <p:cNvSpPr/>
          <p:nvPr/>
        </p:nvSpPr>
        <p:spPr>
          <a:xfrm>
            <a:off x="6817056" y="3355640"/>
            <a:ext cx="6905767" cy="3801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pt-BR" sz="2500" dirty="0">
                <a:latin typeface="Times New Roman" panose="02020603050405020304" pitchFamily="18" charset="0"/>
              </a:rPr>
              <a:t>Permite importar o agente como módulo: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marL="0" lvl="1"/>
            <a:r>
              <a:rPr lang="en-US" sz="2000" dirty="0">
                <a:latin typeface="Times New Roman" panose="02020603050405020304" pitchFamily="18" charset="0"/>
              </a:rPr>
              <a:t># main.py</a:t>
            </a:r>
          </a:p>
          <a:p>
            <a:pPr marL="0" lvl="1"/>
            <a:endParaRPr lang="en-US" sz="2000" dirty="0">
              <a:latin typeface="Times New Roman" panose="02020603050405020304" pitchFamily="18" charset="0"/>
            </a:endParaRPr>
          </a:p>
          <a:p>
            <a:pPr marL="0" lvl="1"/>
            <a:r>
              <a:rPr lang="en-US" sz="2000" dirty="0">
                <a:latin typeface="Times New Roman" panose="02020603050405020304" pitchFamily="18" charset="0"/>
              </a:rPr>
              <a:t>from .agents.agent1.manipulacao_dados import Agent1</a:t>
            </a:r>
          </a:p>
          <a:p>
            <a:pPr marL="0" lvl="1"/>
            <a:endParaRPr lang="en-US" sz="2000" dirty="0">
              <a:latin typeface="Times New Roman" panose="02020603050405020304" pitchFamily="18" charset="0"/>
            </a:endParaRPr>
          </a:p>
          <a:p>
            <a:pPr marL="0" lvl="1"/>
            <a:r>
              <a:rPr lang="pt-BR" sz="2000" dirty="0">
                <a:latin typeface="Times New Roman" panose="02020603050405020304" pitchFamily="18" charset="0"/>
              </a:rPr>
              <a:t>agent1 = Agent1()</a:t>
            </a:r>
            <a:br>
              <a:rPr lang="pt-BR" dirty="0"/>
            </a:br>
            <a:endParaRPr lang="en-US" sz="2000" dirty="0">
              <a:latin typeface="Times New Roman" panose="02020603050405020304" pitchFamily="18" charset="0"/>
            </a:endParaRPr>
          </a:p>
          <a:p>
            <a:pPr marL="0" lvl="1"/>
            <a:r>
              <a:rPr lang="en-US" sz="2000" dirty="0">
                <a:latin typeface="Times New Roman" panose="02020603050405020304" pitchFamily="18" charset="0"/>
              </a:rPr>
              <a:t>file = "documento.pdf"</a:t>
            </a:r>
          </a:p>
          <a:p>
            <a:pPr marL="0" lvl="1"/>
            <a:r>
              <a:rPr lang="en-US" sz="2000" dirty="0">
                <a:latin typeface="Times New Roman" panose="02020603050405020304" pitchFamily="18" charset="0"/>
              </a:rPr>
              <a:t>data = agent1.extrair_dados(file)   # Agent1</a:t>
            </a:r>
          </a:p>
        </p:txBody>
      </p:sp>
    </p:spTree>
    <p:extLst>
      <p:ext uri="{BB962C8B-B14F-4D97-AF65-F5344CB8AC3E}">
        <p14:creationId xmlns:p14="http://schemas.microsoft.com/office/powerpoint/2010/main" val="487730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7DD2A-C6E4-9634-8D94-95347C50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504B1926-FAB9-1487-D8EC-738FEC13F029}"/>
              </a:ext>
            </a:extLst>
          </p:cNvPr>
          <p:cNvSpPr/>
          <p:nvPr/>
        </p:nvSpPr>
        <p:spPr>
          <a:xfrm>
            <a:off x="600528" y="2050764"/>
            <a:ext cx="12136677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Estrutura de Agentes em Python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Quando você coloca __init__.py dentro de uma pasta, Python passa a tratá-la como pacote.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Isso permite importar módulos internos usando a sintaxe de pacote: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</a:rPr>
              <a:t>from agents.agent1.extractor import </a:t>
            </a:r>
            <a:r>
              <a:rPr lang="en-US" sz="2800" dirty="0" err="1">
                <a:latin typeface="Times New Roman" panose="02020603050405020304" pitchFamily="18" charset="0"/>
              </a:rPr>
              <a:t>extract_from_pdf</a:t>
            </a:r>
            <a:endParaRPr lang="en-US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marL="0" lvl="1" algn="just"/>
            <a:r>
              <a:rPr lang="pt-BR" sz="2500" dirty="0">
                <a:latin typeface="Times New Roman" panose="02020603050405020304" pitchFamily="18" charset="0"/>
              </a:rPr>
              <a:t>O </a:t>
            </a:r>
            <a:r>
              <a:rPr lang="pt-BR" sz="2500" b="1" dirty="0">
                <a:latin typeface="Times New Roman" panose="02020603050405020304" pitchFamily="18" charset="0"/>
              </a:rPr>
              <a:t>__init__.py </a:t>
            </a:r>
            <a:r>
              <a:rPr lang="pt-BR" sz="2500" dirty="0">
                <a:latin typeface="Times New Roman" panose="02020603050405020304" pitchFamily="18" charset="0"/>
              </a:rPr>
              <a:t>identifica o diretório como pacote, possibilita importações limpas, permite inicializações globais e aumenta a modularidade e manutenção de agentes em Python.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18E95BBA-2819-68DA-A683-2ABF55FBB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0D91720-8F21-370E-9626-55C9EDD1A4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E49BA3EA-5C7F-43FF-79F5-E0C7A39DDD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A1006947-9591-95E4-EAC8-A2C9F885FC4A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Agent-</a:t>
            </a:r>
            <a:r>
              <a:rPr lang="pt-BR" altLang="pt-BR" sz="2800" b="1" dirty="0" err="1">
                <a:solidFill>
                  <a:schemeClr val="lt1"/>
                </a:solidFill>
                <a:latin typeface="Maven Pro"/>
              </a:rPr>
              <a:t>to</a:t>
            </a:r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-Agent (A2A)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A3291175-FFA7-1009-6ECF-42E2E396A2AC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42004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EC30-1B00-36C4-5EFE-65C36B88A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EA1EB7C9-D60D-D648-1297-337816A4E046}"/>
              </a:ext>
            </a:extLst>
          </p:cNvPr>
          <p:cNvSpPr/>
          <p:nvPr/>
        </p:nvSpPr>
        <p:spPr>
          <a:xfrm>
            <a:off x="600528" y="2050764"/>
            <a:ext cx="12233833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ATIVIDADE 1° Etapa: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Será implementando um processador de PDF, utilizando </a:t>
            </a:r>
            <a:r>
              <a:rPr lang="pt-BR" sz="2800" b="1" dirty="0" err="1">
                <a:latin typeface="Times New Roman" panose="02020603050405020304" pitchFamily="18" charset="0"/>
              </a:rPr>
              <a:t>Agents</a:t>
            </a:r>
            <a:r>
              <a:rPr lang="pt-BR" sz="2800" dirty="0">
                <a:latin typeface="Times New Roman" panose="02020603050405020304" pitchFamily="18" charset="0"/>
              </a:rPr>
              <a:t> (recomenda-se Gemini), para extrair os dados de uma nota fiscal (CONTAS A PAGAR) e devolver em formato JSON</a:t>
            </a:r>
          </a:p>
          <a:p>
            <a:pPr algn="just"/>
            <a:r>
              <a:rPr lang="pt-BR" sz="2800" dirty="0">
                <a:latin typeface="Times New Roman" panose="02020603050405020304" pitchFamily="18" charset="0"/>
              </a:rPr>
              <a:t>Campos obrigatórios que devem ser extraídos:</a:t>
            </a:r>
          </a:p>
          <a:p>
            <a:pPr algn="just"/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DE1B68C2-12A7-1D7D-3DC2-0EF44EDD0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8D0BDC54-7D7C-43DC-C4BC-5B07669CD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01336E17-D3F8-33F0-E1DA-824F813BEF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6B0F9544-87B1-059D-6D45-182E45C08308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Atividade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3609654F-64ED-1A4A-24FF-8F9BEDE7E861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CDDF7A9D-DF0B-626B-2D64-F7F43DC2648E}"/>
              </a:ext>
            </a:extLst>
          </p:cNvPr>
          <p:cNvSpPr/>
          <p:nvPr/>
        </p:nvSpPr>
        <p:spPr>
          <a:xfrm>
            <a:off x="1003138" y="4865427"/>
            <a:ext cx="5581907" cy="31116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r>
              <a:rPr lang="pt-BR" sz="2000" dirty="0">
                <a:latin typeface="Times New Roman" panose="02020603050405020304" pitchFamily="18" charset="0"/>
              </a:rPr>
              <a:t>Fornecedor: Razão Social / Fantasia / CNPJ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Faturado: Nome Completo / CPF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Número da Nota Fiscal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Data de Emissão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Descrição dos produtos*</a:t>
            </a:r>
          </a:p>
          <a:p>
            <a:pPr lvl="0"/>
            <a:r>
              <a:rPr lang="pt-BR" sz="2000" dirty="0" err="1">
                <a:latin typeface="Times New Roman" panose="02020603050405020304" pitchFamily="18" charset="0"/>
              </a:rPr>
              <a:t>QuantidadeParcela</a:t>
            </a:r>
            <a:r>
              <a:rPr lang="pt-BR" sz="2000" dirty="0">
                <a:latin typeface="Times New Roman" panose="02020603050405020304" pitchFamily="18" charset="0"/>
              </a:rPr>
              <a:t>*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Data de Vencimento</a:t>
            </a:r>
          </a:p>
          <a:p>
            <a:pPr lvl="0"/>
            <a:r>
              <a:rPr lang="pt-BR" sz="2000" dirty="0" err="1">
                <a:latin typeface="Times New Roman" panose="02020603050405020304" pitchFamily="18" charset="0"/>
              </a:rPr>
              <a:t>ValorTotal</a:t>
            </a:r>
            <a:endParaRPr lang="pt-BR" sz="2000" dirty="0">
              <a:latin typeface="Times New Roman" panose="02020603050405020304" pitchFamily="18" charset="0"/>
            </a:endParaRPr>
          </a:p>
          <a:p>
            <a:pPr lvl="0"/>
            <a:r>
              <a:rPr lang="pt-BR" sz="2000" dirty="0" err="1">
                <a:latin typeface="Times New Roman" panose="02020603050405020304" pitchFamily="18" charset="0"/>
              </a:rPr>
              <a:t>TipoDespesa</a:t>
            </a:r>
            <a:r>
              <a:rPr lang="pt-BR" sz="2000" dirty="0">
                <a:latin typeface="Times New Roman" panose="02020603050405020304" pitchFamily="18" charset="0"/>
              </a:rPr>
              <a:t>*</a:t>
            </a:r>
          </a:p>
          <a:p>
            <a:pPr lvl="1"/>
            <a:endParaRPr lang="pt-BR" sz="2800" dirty="0">
              <a:latin typeface="Times New Roman" panose="02020603050405020304" pitchFamily="18" charset="0"/>
            </a:endParaRPr>
          </a:p>
          <a:p>
            <a:pPr lvl="1"/>
            <a:r>
              <a:rPr lang="pt-BR" sz="2800" dirty="0">
                <a:latin typeface="Times New Roman" panose="02020603050405020304" pitchFamily="18" charset="0"/>
              </a:rPr>
              <a:t>  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EF43054-DAFF-A990-5B30-2451FB308034}"/>
              </a:ext>
            </a:extLst>
          </p:cNvPr>
          <p:cNvSpPr txBox="1"/>
          <p:nvPr/>
        </p:nvSpPr>
        <p:spPr>
          <a:xfrm>
            <a:off x="6714672" y="4921818"/>
            <a:ext cx="7315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2000" u="sng" dirty="0">
                <a:latin typeface="Times New Roman" panose="02020603050405020304" pitchFamily="18" charset="0"/>
              </a:rPr>
              <a:t>Descrição dos produtos : 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(não será necessário criar uma entidade PRODUTOS)</a:t>
            </a:r>
          </a:p>
          <a:p>
            <a:pPr lvl="0"/>
            <a:endParaRPr lang="pt-BR" sz="2000" dirty="0">
              <a:latin typeface="Times New Roman" panose="02020603050405020304" pitchFamily="18" charset="0"/>
            </a:endParaRPr>
          </a:p>
          <a:p>
            <a:pPr lvl="0"/>
            <a:r>
              <a:rPr lang="pt-BR" sz="2000" u="sng" dirty="0">
                <a:latin typeface="Times New Roman" panose="02020603050405020304" pitchFamily="18" charset="0"/>
              </a:rPr>
              <a:t>Quantidade de Parcelas : 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(uma parcela, porém com estrutura para receber mais de uma)</a:t>
            </a:r>
          </a:p>
          <a:p>
            <a:pPr lvl="0"/>
            <a:endParaRPr lang="pt-BR" sz="2000" dirty="0">
              <a:latin typeface="Times New Roman" panose="02020603050405020304" pitchFamily="18" charset="0"/>
            </a:endParaRPr>
          </a:p>
          <a:p>
            <a:pPr lvl="0"/>
            <a:r>
              <a:rPr lang="pt-BR" sz="2000" u="sng" dirty="0">
                <a:latin typeface="Times New Roman" panose="02020603050405020304" pitchFamily="18" charset="0"/>
              </a:rPr>
              <a:t>Classificação da DESPESA:  </a:t>
            </a:r>
          </a:p>
          <a:p>
            <a:pPr lvl="0"/>
            <a:r>
              <a:rPr lang="pt-BR" sz="2000" dirty="0">
                <a:latin typeface="Times New Roman" panose="02020603050405020304" pitchFamily="18" charset="0"/>
              </a:rPr>
              <a:t>(uma classificação de DESPESA por registro, porém com estrutura para receber mais de uma)</a:t>
            </a: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393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A8D7F-E415-866C-668A-EDAD2664F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DD32A99D-349F-451B-8BAD-678F1981C980}"/>
              </a:ext>
            </a:extLst>
          </p:cNvPr>
          <p:cNvSpPr/>
          <p:nvPr/>
        </p:nvSpPr>
        <p:spPr>
          <a:xfrm>
            <a:off x="600528" y="2050764"/>
            <a:ext cx="13620439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ATIVIDADE 1° Etapa: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DESPESA não é um campo extraído.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Deverá ser interpretado pelo Gemini.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Conforme os produtos da Nota Fiscal, classifica-se o registro: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Ex.: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500" dirty="0">
                <a:latin typeface="Times New Roman" panose="02020603050405020304" pitchFamily="18" charset="0"/>
              </a:rPr>
              <a:t>Compra de </a:t>
            </a:r>
            <a:r>
              <a:rPr lang="pt-BR" sz="2500" dirty="0" err="1">
                <a:latin typeface="Times New Roman" panose="02020603050405020304" pitchFamily="18" charset="0"/>
              </a:rPr>
              <a:t>Oleo</a:t>
            </a:r>
            <a:r>
              <a:rPr lang="pt-BR" sz="2500" dirty="0">
                <a:latin typeface="Times New Roman" panose="02020603050405020304" pitchFamily="18" charset="0"/>
              </a:rPr>
              <a:t> Diesel 			</a:t>
            </a:r>
            <a:r>
              <a:rPr lang="pt-BR" sz="25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500" dirty="0">
                <a:latin typeface="Times New Roman" panose="02020603050405020304" pitchFamily="18" charset="0"/>
              </a:rPr>
              <a:t> Classifica-se na categoria MANUTENÇÃO E OPERAÇÃO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pt-BR" sz="2500" dirty="0">
                <a:latin typeface="Times New Roman" panose="02020603050405020304" pitchFamily="18" charset="0"/>
              </a:rPr>
              <a:t>Compra de Material Hidráulico </a:t>
            </a:r>
            <a:r>
              <a:rPr lang="pt-BR" sz="2500" dirty="0"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pt-BR" sz="2500" dirty="0">
                <a:latin typeface="Times New Roman" panose="02020603050405020304" pitchFamily="18" charset="0"/>
              </a:rPr>
              <a:t> Classifica-se na categoria INFRAESTRUTURA E UTILIDADES</a:t>
            </a:r>
          </a:p>
          <a:p>
            <a:pPr algn="just"/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89D005F9-AFE0-0A61-981C-B3A7E33A6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CA744010-617E-B07A-CF2D-6A8674D5E2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CA6F90F2-03C7-AA30-E053-96B2C203C7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2015B512-E668-F951-EAA7-16AE56DF6CD5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Atividade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EFCF05DA-66A3-0D19-44E2-EC1752938461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60926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306A-E991-386E-41FB-F15583C52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77055CFE-6821-7F85-8323-E74CEDE109E8}"/>
              </a:ext>
            </a:extLst>
          </p:cNvPr>
          <p:cNvSpPr/>
          <p:nvPr/>
        </p:nvSpPr>
        <p:spPr>
          <a:xfrm>
            <a:off x="600528" y="2050764"/>
            <a:ext cx="13620439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ATIVIDADE 1° Etapa: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Será implementada uma interface gráfica WEB. 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Usuário carrega a nota fiscal em formato PDF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Logo após carregar a nota fiscal, o usuário solicita a extração de dados, através de um Button, que aciona o Gemini que extrai e devolve os dados em formato JSON na TELA.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7AF0D9AB-02B6-3521-BA01-A0DB87C00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7A1EA9C-5B54-3357-9288-CD0B124EB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AE549550-D390-E83C-DA72-802855361B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4146F66C-800F-C5D6-9838-9F69EB1A0F04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Atividade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D5E06497-EB4D-8203-9622-E6D8CFC49C32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920606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46EB-33CF-21A5-A809-E433FC26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250EFDF5-C785-BDD3-D49D-D83F6C398164}"/>
              </a:ext>
            </a:extLst>
          </p:cNvPr>
          <p:cNvSpPr/>
          <p:nvPr/>
        </p:nvSpPr>
        <p:spPr>
          <a:xfrm>
            <a:off x="600528" y="2050764"/>
            <a:ext cx="13620439" cy="57421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pt-BR" sz="2800" dirty="0">
                <a:latin typeface="Times New Roman" panose="02020603050405020304" pitchFamily="18" charset="0"/>
              </a:rPr>
              <a:t>ATIVIDADE 1° Etapa: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A avaliação N2, será particionada em duas etapas de implementação: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1° etapa: ENTREGA 23/09/2025 – Peso: 35%</a:t>
            </a:r>
          </a:p>
          <a:p>
            <a:endParaRPr lang="pt-BR" sz="2800" dirty="0">
              <a:latin typeface="Times New Roman" panose="02020603050405020304" pitchFamily="18" charset="0"/>
            </a:endParaRPr>
          </a:p>
          <a:p>
            <a:r>
              <a:rPr lang="pt-BR" sz="2800" dirty="0">
                <a:latin typeface="Times New Roman" panose="02020603050405020304" pitchFamily="18" charset="0"/>
              </a:rPr>
              <a:t>Critérios de avaliação: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40% - Uso do Agent conforme estrutura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30% - Conteúdo do JSON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latin typeface="Times New Roman" panose="02020603050405020304" pitchFamily="18" charset="0"/>
              </a:rPr>
              <a:t>30% - Assertividade na classificação da DESPESA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latin typeface="Times New Roman" panose="02020603050405020304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D9ABE655-A7CF-DA99-11EA-1613268A6D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7" y="86519"/>
            <a:ext cx="936625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D9FCF392-CDEA-8982-C3F0-A9723E33C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0658" y="86519"/>
            <a:ext cx="30575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Imagem 2">
            <a:extLst>
              <a:ext uri="{FF2B5EF4-FFF2-40B4-BE49-F238E27FC236}">
                <a16:creationId xmlns:a16="http://schemas.microsoft.com/office/drawing/2014/main" id="{19E25262-72CD-DA61-E6EC-6E3EC1826E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2" y="7694498"/>
            <a:ext cx="1522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01;p37">
            <a:extLst>
              <a:ext uri="{FF2B5EF4-FFF2-40B4-BE49-F238E27FC236}">
                <a16:creationId xmlns:a16="http://schemas.microsoft.com/office/drawing/2014/main" id="{9C6662FB-BB5B-47FA-F7C4-C47751006660}"/>
              </a:ext>
            </a:extLst>
          </p:cNvPr>
          <p:cNvSpPr/>
          <p:nvPr/>
        </p:nvSpPr>
        <p:spPr>
          <a:xfrm>
            <a:off x="471739" y="1164553"/>
            <a:ext cx="12362622" cy="779462"/>
          </a:xfrm>
          <a:prstGeom prst="roundRect">
            <a:avLst>
              <a:gd name="adj" fmla="val 16667"/>
            </a:avLst>
          </a:prstGeom>
          <a:solidFill>
            <a:schemeClr val="accent1">
              <a:lumMod val="50000"/>
            </a:schemeClr>
          </a:solidFill>
          <a:ln w="9525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altLang="pt-BR" sz="2800" b="1" dirty="0">
                <a:solidFill>
                  <a:schemeClr val="lt1"/>
                </a:solidFill>
                <a:latin typeface="Maven Pro"/>
              </a:rPr>
              <a:t>Atividade</a:t>
            </a:r>
            <a:endParaRPr sz="2800" b="1" dirty="0">
              <a:solidFill>
                <a:schemeClr val="lt1"/>
              </a:solidFill>
              <a:latin typeface="Maven Pro"/>
              <a:sym typeface="Maven Pro"/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83719C86-F1C8-9CB9-C77B-33DACB20872A}"/>
              </a:ext>
            </a:extLst>
          </p:cNvPr>
          <p:cNvSpPr/>
          <p:nvPr/>
        </p:nvSpPr>
        <p:spPr>
          <a:xfrm>
            <a:off x="1602025" y="188100"/>
            <a:ext cx="7651200" cy="5763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800" b="1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PRÁTICA DE ENGENHARIA DE SOFTWARE</a:t>
            </a:r>
            <a:endParaRPr lang="pt-BR" sz="2800" b="1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83801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1384</TotalTime>
  <Words>1725</Words>
  <Application>Microsoft Office PowerPoint</Application>
  <PresentationFormat>Personalizar</PresentationFormat>
  <Paragraphs>318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4" baseType="lpstr">
      <vt:lpstr>Aptos</vt:lpstr>
      <vt:lpstr>Arial</vt:lpstr>
      <vt:lpstr>Helvetica Neue</vt:lpstr>
      <vt:lpstr>Maven Pro</vt:lpstr>
      <vt:lpstr>Maven Pro Medium</vt:lpstr>
      <vt:lpstr>Nunito</vt:lpstr>
      <vt:lpstr>Patrick Hand</vt:lpstr>
      <vt:lpstr>Times New Roman</vt:lpstr>
      <vt:lpstr>Tw Cen MT</vt:lpstr>
      <vt:lpstr>Tw Cen MT Condensed</vt:lpstr>
      <vt:lpstr>Wingdings</vt:lpstr>
      <vt:lpstr>Wingdings 3</vt:lpstr>
      <vt:lpstr>Integral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.</cp:lastModifiedBy>
  <cp:revision>104</cp:revision>
  <dcterms:created xsi:type="dcterms:W3CDTF">2024-04-17T10:21:39Z</dcterms:created>
  <dcterms:modified xsi:type="dcterms:W3CDTF">2026-09-09T22:13:26Z</dcterms:modified>
</cp:coreProperties>
</file>